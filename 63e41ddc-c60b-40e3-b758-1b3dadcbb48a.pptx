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754" y="3886199"/>
            <a:ext cx="8534186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008870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562993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844036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951458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26586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912350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26973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116311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708890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695567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047018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05876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10/23/2026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48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6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" name="矩形"/>
          <p:cNvSpPr>
            <a:spLocks/>
          </p:cNvSpPr>
          <p:nvPr/>
        </p:nvSpPr>
        <p:spPr>
          <a:xfrm rot="0">
            <a:off x="502919" y="6473951"/>
            <a:ext cx="3957700" cy="205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11527460" y="6419087"/>
            <a:ext cx="314020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01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731520" y="960120"/>
            <a:ext cx="7498079" cy="27470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FBE50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SUMMER INTERNSHIP REPORT</a:t>
            </a:r>
            <a:endParaRPr lang="zh-CN" altLang="en-US" sz="1600" b="0" i="0" u="none" strike="noStrike" kern="1200" cap="none" spc="0" baseline="0">
              <a:solidFill>
                <a:srgbClr val="FFBE50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 rot="0">
            <a:off x="731520" y="1572768"/>
            <a:ext cx="7635240" cy="11097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</a:t>
            </a:r>
            <a:endParaRPr lang="en-US" altLang="zh-CN" sz="3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INTRUSION DETECTION SYSTEM</a:t>
            </a:r>
            <a:endParaRPr lang="zh-CN" altLang="en-US" sz="3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 rot="0">
            <a:off x="777240" y="3456431"/>
            <a:ext cx="7223760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ROJITH R A  |  810023205053</a:t>
            </a:r>
            <a:endParaRPr lang="zh-CN" altLang="en-US" sz="18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777240" y="4069080"/>
            <a:ext cx="7223760" cy="86842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Department of Information Technology</a:t>
            </a:r>
            <a:endParaRPr lang="en-US" altLang="zh-CN" sz="14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University College of Engineering (BIT Campus)</a:t>
            </a:r>
            <a:endParaRPr lang="en-US" altLang="zh-CN" sz="14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Anna University, Tiruchirappalli</a:t>
            </a:r>
            <a:endParaRPr lang="zh-CN" altLang="en-US" sz="14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 rot="0">
            <a:off x="777240" y="5257800"/>
            <a:ext cx="7132320" cy="217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Internship: 01 June – 30 June 2026  •  Fantasy Solution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777278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6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7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0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1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3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6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9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2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" name="矩形"/>
          <p:cNvSpPr>
            <a:spLocks/>
          </p:cNvSpPr>
          <p:nvPr/>
        </p:nvSpPr>
        <p:spPr>
          <a:xfrm rot="0">
            <a:off x="502919" y="6473951"/>
            <a:ext cx="3957700" cy="205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 rot="0">
            <a:off x="11527460" y="6419087"/>
            <a:ext cx="314020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02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594360" y="384048"/>
            <a:ext cx="7955279" cy="4842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Project Overview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621791" y="1024127"/>
            <a:ext cx="7863840" cy="2270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machine-learning prototype for labelled network-flow and security-event data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7" name="椭圆"/>
          <p:cNvSpPr>
            <a:spLocks/>
          </p:cNvSpPr>
          <p:nvPr/>
        </p:nvSpPr>
        <p:spPr>
          <a:xfrm rot="0">
            <a:off x="731520" y="1627631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8" name="矩形"/>
          <p:cNvSpPr>
            <a:spLocks/>
          </p:cNvSpPr>
          <p:nvPr/>
        </p:nvSpPr>
        <p:spPr>
          <a:xfrm rot="0">
            <a:off x="987551" y="1508759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Python-based web application with an interactive Streamlit dashboard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9" name="椭圆"/>
          <p:cNvSpPr>
            <a:spLocks/>
          </p:cNvSpPr>
          <p:nvPr/>
        </p:nvSpPr>
        <p:spPr>
          <a:xfrm rot="0">
            <a:off x="731520" y="2331720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0" name="矩形"/>
          <p:cNvSpPr>
            <a:spLocks/>
          </p:cNvSpPr>
          <p:nvPr/>
        </p:nvSpPr>
        <p:spPr>
          <a:xfrm rot="0">
            <a:off x="987551" y="2212848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Upload a labelled CSV dataset and select its target/label column.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1" name="椭圆"/>
          <p:cNvSpPr>
            <a:spLocks/>
          </p:cNvSpPr>
          <p:nvPr/>
        </p:nvSpPr>
        <p:spPr>
          <a:xfrm rot="0">
            <a:off x="731520" y="303580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2" name="矩形"/>
          <p:cNvSpPr>
            <a:spLocks/>
          </p:cNvSpPr>
          <p:nvPr/>
        </p:nvSpPr>
        <p:spPr>
          <a:xfrm rot="0">
            <a:off x="987551" y="2916936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Preprocess numeric and categorical features automatically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3" name="椭圆"/>
          <p:cNvSpPr>
            <a:spLocks/>
          </p:cNvSpPr>
          <p:nvPr/>
        </p:nvSpPr>
        <p:spPr>
          <a:xfrm rot="0">
            <a:off x="731520" y="3739896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4" name="矩形"/>
          <p:cNvSpPr>
            <a:spLocks/>
          </p:cNvSpPr>
          <p:nvPr/>
        </p:nvSpPr>
        <p:spPr>
          <a:xfrm rot="0">
            <a:off x="987551" y="3621024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Train and evaluate Random Forest or Logistic Regression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5" name="椭圆"/>
          <p:cNvSpPr>
            <a:spLocks/>
          </p:cNvSpPr>
          <p:nvPr/>
        </p:nvSpPr>
        <p:spPr>
          <a:xfrm rot="0">
            <a:off x="731520" y="4443984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6" name="矩形"/>
          <p:cNvSpPr>
            <a:spLocks/>
          </p:cNvSpPr>
          <p:nvPr/>
        </p:nvSpPr>
        <p:spPr>
          <a:xfrm rot="0">
            <a:off x="987551" y="4325112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Visualise results and export predictions or save the fitted model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90" name="文本框"/>
          <p:cNvSpPr txBox="1">
            <a:spLocks/>
          </p:cNvSpPr>
          <p:nvPr/>
        </p:nvSpPr>
        <p:spPr>
          <a:xfrm rot="0">
            <a:off x="5498923" y="2843168"/>
            <a:ext cx="1171557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Droid Sans" pitchFamily="0" charset="0"/>
              <a:ea typeface="宋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27490077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8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9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0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1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2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3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4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5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6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7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8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9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0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1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2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3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4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5" name="矩形"/>
          <p:cNvSpPr>
            <a:spLocks/>
          </p:cNvSpPr>
          <p:nvPr/>
        </p:nvSpPr>
        <p:spPr>
          <a:xfrm rot="0">
            <a:off x="502919" y="6473951"/>
            <a:ext cx="3957700" cy="205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6" name="矩形"/>
          <p:cNvSpPr>
            <a:spLocks/>
          </p:cNvSpPr>
          <p:nvPr/>
        </p:nvSpPr>
        <p:spPr>
          <a:xfrm rot="0">
            <a:off x="11527460" y="6419087"/>
            <a:ext cx="314020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03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594360" y="384048"/>
            <a:ext cx="7955279" cy="4842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Problem &amp; Motivation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 rot="0">
            <a:off x="621791" y="1024127"/>
            <a:ext cx="7863840" cy="2270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Why automate cloud intrusion analysis?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9" name="椭圆"/>
          <p:cNvSpPr>
            <a:spLocks/>
          </p:cNvSpPr>
          <p:nvPr/>
        </p:nvSpPr>
        <p:spPr>
          <a:xfrm rot="0">
            <a:off x="731520" y="1627631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0" name="矩形"/>
          <p:cNvSpPr>
            <a:spLocks/>
          </p:cNvSpPr>
          <p:nvPr/>
        </p:nvSpPr>
        <p:spPr>
          <a:xfrm rot="0">
            <a:off x="987551" y="1508759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Cloud environments generate large volumes of network and security logs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1" name="椭圆"/>
          <p:cNvSpPr>
            <a:spLocks/>
          </p:cNvSpPr>
          <p:nvPr/>
        </p:nvSpPr>
        <p:spPr>
          <a:xfrm rot="0">
            <a:off x="731520" y="2331720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2" name="矩形"/>
          <p:cNvSpPr>
            <a:spLocks/>
          </p:cNvSpPr>
          <p:nvPr/>
        </p:nvSpPr>
        <p:spPr>
          <a:xfrm rot="0">
            <a:off x="987551" y="2212848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Manual log review is slow and can miss suspicious activity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3" name="椭圆"/>
          <p:cNvSpPr>
            <a:spLocks/>
          </p:cNvSpPr>
          <p:nvPr/>
        </p:nvSpPr>
        <p:spPr>
          <a:xfrm rot="0">
            <a:off x="731520" y="303580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4" name="矩形"/>
          <p:cNvSpPr>
            <a:spLocks/>
          </p:cNvSpPr>
          <p:nvPr/>
        </p:nvSpPr>
        <p:spPr>
          <a:xfrm rot="0">
            <a:off x="987551" y="2916936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Fixed signatures may not detect new or modified attack patterns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5" name="椭圆"/>
          <p:cNvSpPr>
            <a:spLocks/>
          </p:cNvSpPr>
          <p:nvPr/>
        </p:nvSpPr>
        <p:spPr>
          <a:xfrm rot="0">
            <a:off x="731520" y="3739896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6" name="矩形"/>
          <p:cNvSpPr>
            <a:spLocks/>
          </p:cNvSpPr>
          <p:nvPr/>
        </p:nvSpPr>
        <p:spPr>
          <a:xfrm rot="0">
            <a:off x="987551" y="3621024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High false alarms can create alert fatigue for security analysts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7" name="椭圆"/>
          <p:cNvSpPr>
            <a:spLocks/>
          </p:cNvSpPr>
          <p:nvPr/>
        </p:nvSpPr>
        <p:spPr>
          <a:xfrm rot="0">
            <a:off x="731520" y="4443984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8" name="矩形"/>
          <p:cNvSpPr>
            <a:spLocks/>
          </p:cNvSpPr>
          <p:nvPr/>
        </p:nvSpPr>
        <p:spPr>
          <a:xfrm rot="0">
            <a:off x="987551" y="4325112"/>
            <a:ext cx="7406639" cy="3032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visual, repeatable ML workflow helps learners explore labelled data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772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0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1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2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3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4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5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6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7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8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9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0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1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2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3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4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5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6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7" name="矩形"/>
          <p:cNvSpPr>
            <a:spLocks/>
          </p:cNvSpPr>
          <p:nvPr/>
        </p:nvSpPr>
        <p:spPr>
          <a:xfrm rot="0">
            <a:off x="502919" y="6473951"/>
            <a:ext cx="3957700" cy="205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8" name="矩形"/>
          <p:cNvSpPr>
            <a:spLocks/>
          </p:cNvSpPr>
          <p:nvPr/>
        </p:nvSpPr>
        <p:spPr>
          <a:xfrm rot="0">
            <a:off x="11527460" y="6419087"/>
            <a:ext cx="314020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04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9" name="矩形"/>
          <p:cNvSpPr>
            <a:spLocks/>
          </p:cNvSpPr>
          <p:nvPr/>
        </p:nvSpPr>
        <p:spPr>
          <a:xfrm rot="0">
            <a:off x="594360" y="384048"/>
            <a:ext cx="7955279" cy="4842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Project Objectives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0" name="矩形"/>
          <p:cNvSpPr>
            <a:spLocks/>
          </p:cNvSpPr>
          <p:nvPr/>
        </p:nvSpPr>
        <p:spPr>
          <a:xfrm rot="0">
            <a:off x="621791" y="1024127"/>
            <a:ext cx="7863840" cy="2270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Core goals from the internship report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1" name="椭圆"/>
          <p:cNvSpPr>
            <a:spLocks/>
          </p:cNvSpPr>
          <p:nvPr/>
        </p:nvSpPr>
        <p:spPr>
          <a:xfrm rot="0">
            <a:off x="731520" y="1627631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2" name="矩形"/>
          <p:cNvSpPr>
            <a:spLocks/>
          </p:cNvSpPr>
          <p:nvPr/>
        </p:nvSpPr>
        <p:spPr>
          <a:xfrm rot="0">
            <a:off x="987551" y="1508759"/>
            <a:ext cx="7406639" cy="2937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Build an easy-to-use web dashboard for intrusion detection experiments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3" name="椭圆"/>
          <p:cNvSpPr>
            <a:spLocks/>
          </p:cNvSpPr>
          <p:nvPr/>
        </p:nvSpPr>
        <p:spPr>
          <a:xfrm rot="0">
            <a:off x="731520" y="2240279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4" name="矩形"/>
          <p:cNvSpPr>
            <a:spLocks/>
          </p:cNvSpPr>
          <p:nvPr/>
        </p:nvSpPr>
        <p:spPr>
          <a:xfrm rot="0">
            <a:off x="987551" y="2121408"/>
            <a:ext cx="7406639" cy="2937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Validate, clean and prepare labelled CSV datasets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5" name="椭圆"/>
          <p:cNvSpPr>
            <a:spLocks/>
          </p:cNvSpPr>
          <p:nvPr/>
        </p:nvSpPr>
        <p:spPr>
          <a:xfrm rot="0">
            <a:off x="731520" y="285292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6" name="矩形"/>
          <p:cNvSpPr>
            <a:spLocks/>
          </p:cNvSpPr>
          <p:nvPr/>
        </p:nvSpPr>
        <p:spPr>
          <a:xfrm rot="0">
            <a:off x="987551" y="2734056"/>
            <a:ext cx="7406639" cy="2937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Compare Random Forest and Logistic Regression classifiers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7" name="椭圆"/>
          <p:cNvSpPr>
            <a:spLocks/>
          </p:cNvSpPr>
          <p:nvPr/>
        </p:nvSpPr>
        <p:spPr>
          <a:xfrm rot="0">
            <a:off x="731520" y="3465576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8" name="矩形"/>
          <p:cNvSpPr>
            <a:spLocks/>
          </p:cNvSpPr>
          <p:nvPr/>
        </p:nvSpPr>
        <p:spPr>
          <a:xfrm rot="0">
            <a:off x="987551" y="3346704"/>
            <a:ext cx="7406639" cy="2937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Evaluate with accuracy, weighted precision, recall and F1-score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9" name="椭圆"/>
          <p:cNvSpPr>
            <a:spLocks/>
          </p:cNvSpPr>
          <p:nvPr/>
        </p:nvSpPr>
        <p:spPr>
          <a:xfrm rot="0">
            <a:off x="731520" y="4078224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0" name="矩形"/>
          <p:cNvSpPr>
            <a:spLocks/>
          </p:cNvSpPr>
          <p:nvPr/>
        </p:nvSpPr>
        <p:spPr>
          <a:xfrm rot="0">
            <a:off x="987551" y="3959352"/>
            <a:ext cx="7406639" cy="2937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Display confusion matrix, classification report and predicted-class summary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1" name="椭圆"/>
          <p:cNvSpPr>
            <a:spLocks/>
          </p:cNvSpPr>
          <p:nvPr/>
        </p:nvSpPr>
        <p:spPr>
          <a:xfrm rot="0">
            <a:off x="731520" y="4690872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2" name="矩形"/>
          <p:cNvSpPr>
            <a:spLocks/>
          </p:cNvSpPr>
          <p:nvPr/>
        </p:nvSpPr>
        <p:spPr>
          <a:xfrm rot="0">
            <a:off x="987551" y="4572000"/>
            <a:ext cx="7406639" cy="2937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Allow prediction download and local model persistence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334159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4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5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6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7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8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9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0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1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2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3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4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5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6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7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8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9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0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1" name="矩形"/>
          <p:cNvSpPr>
            <a:spLocks/>
          </p:cNvSpPr>
          <p:nvPr/>
        </p:nvSpPr>
        <p:spPr>
          <a:xfrm rot="0">
            <a:off x="502919" y="6473951"/>
            <a:ext cx="3957700" cy="205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2" name="矩形"/>
          <p:cNvSpPr>
            <a:spLocks/>
          </p:cNvSpPr>
          <p:nvPr/>
        </p:nvSpPr>
        <p:spPr>
          <a:xfrm rot="0">
            <a:off x="11527460" y="6419087"/>
            <a:ext cx="314020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05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3" name="矩形"/>
          <p:cNvSpPr>
            <a:spLocks/>
          </p:cNvSpPr>
          <p:nvPr/>
        </p:nvSpPr>
        <p:spPr>
          <a:xfrm rot="0">
            <a:off x="594360" y="384048"/>
            <a:ext cx="7955279" cy="4842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Technology Stack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4" name="矩形"/>
          <p:cNvSpPr>
            <a:spLocks/>
          </p:cNvSpPr>
          <p:nvPr/>
        </p:nvSpPr>
        <p:spPr>
          <a:xfrm rot="0">
            <a:off x="621791" y="1024127"/>
            <a:ext cx="7863840" cy="2270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Tools and libraries used in implementation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5" name="圆角矩形"/>
          <p:cNvSpPr>
            <a:spLocks/>
          </p:cNvSpPr>
          <p:nvPr/>
        </p:nvSpPr>
        <p:spPr>
          <a:xfrm rot="0">
            <a:off x="731520" y="1554480"/>
            <a:ext cx="3429000" cy="987551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6" name="矩形"/>
          <p:cNvSpPr>
            <a:spLocks/>
          </p:cNvSpPr>
          <p:nvPr/>
        </p:nvSpPr>
        <p:spPr>
          <a:xfrm rot="0">
            <a:off x="914400" y="1673352"/>
            <a:ext cx="3063239" cy="2556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PYTHON</a:t>
            </a:r>
            <a:endParaRPr lang="zh-CN" altLang="en-US" sz="15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7" name="矩形"/>
          <p:cNvSpPr>
            <a:spLocks/>
          </p:cNvSpPr>
          <p:nvPr/>
        </p:nvSpPr>
        <p:spPr>
          <a:xfrm rot="0">
            <a:off x="914400" y="2029967"/>
            <a:ext cx="3063239" cy="217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Core programming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8" name="圆角矩形"/>
          <p:cNvSpPr>
            <a:spLocks/>
          </p:cNvSpPr>
          <p:nvPr/>
        </p:nvSpPr>
        <p:spPr>
          <a:xfrm rot="0">
            <a:off x="4617720" y="1554480"/>
            <a:ext cx="3429000" cy="987551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9" name="矩形"/>
          <p:cNvSpPr>
            <a:spLocks/>
          </p:cNvSpPr>
          <p:nvPr/>
        </p:nvSpPr>
        <p:spPr>
          <a:xfrm rot="0">
            <a:off x="4800600" y="1673352"/>
            <a:ext cx="3063239" cy="2556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STREAMLIT</a:t>
            </a:r>
            <a:endParaRPr lang="zh-CN" altLang="en-US" sz="15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0" name="矩形"/>
          <p:cNvSpPr>
            <a:spLocks/>
          </p:cNvSpPr>
          <p:nvPr/>
        </p:nvSpPr>
        <p:spPr>
          <a:xfrm rot="0">
            <a:off x="4800600" y="2029967"/>
            <a:ext cx="3063239" cy="217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Interactive web UI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1" name="圆角矩形"/>
          <p:cNvSpPr>
            <a:spLocks/>
          </p:cNvSpPr>
          <p:nvPr/>
        </p:nvSpPr>
        <p:spPr>
          <a:xfrm rot="0">
            <a:off x="731520" y="2971799"/>
            <a:ext cx="3429000" cy="987551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2" name="矩形"/>
          <p:cNvSpPr>
            <a:spLocks/>
          </p:cNvSpPr>
          <p:nvPr/>
        </p:nvSpPr>
        <p:spPr>
          <a:xfrm rot="0">
            <a:off x="914400" y="3090672"/>
            <a:ext cx="3063239" cy="2556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PANDAS</a:t>
            </a:r>
            <a:endParaRPr lang="zh-CN" altLang="en-US" sz="15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3" name="矩形"/>
          <p:cNvSpPr>
            <a:spLocks/>
          </p:cNvSpPr>
          <p:nvPr/>
        </p:nvSpPr>
        <p:spPr>
          <a:xfrm rot="0">
            <a:off x="914400" y="3447288"/>
            <a:ext cx="3063239" cy="2175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CSV handling &amp; cleaning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4" name="圆角矩形"/>
          <p:cNvSpPr>
            <a:spLocks/>
          </p:cNvSpPr>
          <p:nvPr/>
        </p:nvSpPr>
        <p:spPr>
          <a:xfrm rot="0">
            <a:off x="4617720" y="2971799"/>
            <a:ext cx="3429000" cy="987551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5" name="矩形"/>
          <p:cNvSpPr>
            <a:spLocks/>
          </p:cNvSpPr>
          <p:nvPr/>
        </p:nvSpPr>
        <p:spPr>
          <a:xfrm rot="0">
            <a:off x="4800600" y="3090672"/>
            <a:ext cx="3063239" cy="2556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SCIKIT-LEARN</a:t>
            </a:r>
            <a:endParaRPr lang="zh-CN" altLang="en-US" sz="15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6" name="矩形"/>
          <p:cNvSpPr>
            <a:spLocks/>
          </p:cNvSpPr>
          <p:nvPr/>
        </p:nvSpPr>
        <p:spPr>
          <a:xfrm rot="0">
            <a:off x="4800600" y="3447288"/>
            <a:ext cx="3063239" cy="2175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Preprocessing &amp; ML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7" name="圆角矩形"/>
          <p:cNvSpPr>
            <a:spLocks/>
          </p:cNvSpPr>
          <p:nvPr/>
        </p:nvSpPr>
        <p:spPr>
          <a:xfrm rot="0">
            <a:off x="731520" y="4389120"/>
            <a:ext cx="3429000" cy="987551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8" name="矩形"/>
          <p:cNvSpPr>
            <a:spLocks/>
          </p:cNvSpPr>
          <p:nvPr/>
        </p:nvSpPr>
        <p:spPr>
          <a:xfrm rot="0">
            <a:off x="914400" y="4507992"/>
            <a:ext cx="3063239" cy="2556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MATPLOTLIB</a:t>
            </a:r>
            <a:endParaRPr lang="zh-CN" altLang="en-US" sz="15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9" name="矩形"/>
          <p:cNvSpPr>
            <a:spLocks/>
          </p:cNvSpPr>
          <p:nvPr/>
        </p:nvSpPr>
        <p:spPr>
          <a:xfrm rot="0">
            <a:off x="914400" y="4864608"/>
            <a:ext cx="3063239" cy="217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Confusion matrix visuals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0" name="圆角矩形"/>
          <p:cNvSpPr>
            <a:spLocks/>
          </p:cNvSpPr>
          <p:nvPr/>
        </p:nvSpPr>
        <p:spPr>
          <a:xfrm rot="0">
            <a:off x="4617720" y="4389120"/>
            <a:ext cx="3429000" cy="987551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1" name="矩形"/>
          <p:cNvSpPr>
            <a:spLocks/>
          </p:cNvSpPr>
          <p:nvPr/>
        </p:nvSpPr>
        <p:spPr>
          <a:xfrm rot="0">
            <a:off x="4800600" y="4507992"/>
            <a:ext cx="3063239" cy="2556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JOBLIB</a:t>
            </a:r>
            <a:endParaRPr lang="zh-CN" altLang="en-US" sz="15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2" name="矩形"/>
          <p:cNvSpPr>
            <a:spLocks/>
          </p:cNvSpPr>
          <p:nvPr/>
        </p:nvSpPr>
        <p:spPr>
          <a:xfrm rot="0">
            <a:off x="4800600" y="4864608"/>
            <a:ext cx="3063239" cy="217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Save fitted model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054755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4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5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6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7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8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9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0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1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2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3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4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5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6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7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8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9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0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1" name="矩形"/>
          <p:cNvSpPr>
            <a:spLocks/>
          </p:cNvSpPr>
          <p:nvPr/>
        </p:nvSpPr>
        <p:spPr>
          <a:xfrm rot="0">
            <a:off x="502919" y="6473951"/>
            <a:ext cx="3957700" cy="205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2" name="矩形"/>
          <p:cNvSpPr>
            <a:spLocks/>
          </p:cNvSpPr>
          <p:nvPr/>
        </p:nvSpPr>
        <p:spPr>
          <a:xfrm rot="0">
            <a:off x="11527460" y="6419087"/>
            <a:ext cx="314020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06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3" name="矩形"/>
          <p:cNvSpPr>
            <a:spLocks/>
          </p:cNvSpPr>
          <p:nvPr/>
        </p:nvSpPr>
        <p:spPr>
          <a:xfrm rot="0">
            <a:off x="594360" y="384048"/>
            <a:ext cx="7955279" cy="4842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System Architecture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4" name="矩形"/>
          <p:cNvSpPr>
            <a:spLocks/>
          </p:cNvSpPr>
          <p:nvPr/>
        </p:nvSpPr>
        <p:spPr>
          <a:xfrm rot="0">
            <a:off x="621791" y="1024127"/>
            <a:ext cx="7863840" cy="2270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Three-layer design described in the report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5" name="圆角矩形"/>
          <p:cNvSpPr>
            <a:spLocks/>
          </p:cNvSpPr>
          <p:nvPr/>
        </p:nvSpPr>
        <p:spPr>
          <a:xfrm rot="0">
            <a:off x="822960" y="1600200"/>
            <a:ext cx="6995160" cy="86868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D2D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6" name="矩形"/>
          <p:cNvSpPr>
            <a:spLocks/>
          </p:cNvSpPr>
          <p:nvPr/>
        </p:nvSpPr>
        <p:spPr>
          <a:xfrm rot="0">
            <a:off x="1051560" y="1709928"/>
            <a:ext cx="649224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01  PRESENTATION LAYER</a:t>
            </a:r>
            <a:endParaRPr lang="zh-CN" altLang="en-US" sz="15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7" name="矩形"/>
          <p:cNvSpPr>
            <a:spLocks/>
          </p:cNvSpPr>
          <p:nvPr/>
        </p:nvSpPr>
        <p:spPr>
          <a:xfrm rot="0">
            <a:off x="1051560" y="2048255"/>
            <a:ext cx="6492240" cy="2175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Streamlit dashboard • Upload • Label selection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8" name="矩形"/>
          <p:cNvSpPr>
            <a:spLocks/>
          </p:cNvSpPr>
          <p:nvPr/>
        </p:nvSpPr>
        <p:spPr>
          <a:xfrm rot="0">
            <a:off x="3840480" y="2496311"/>
            <a:ext cx="1097280" cy="331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BE50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↓</a:t>
            </a:r>
            <a:endParaRPr lang="zh-CN" altLang="en-US" sz="2000" b="0" i="0" u="none" strike="noStrike" kern="1200" cap="none" spc="0" baseline="0">
              <a:solidFill>
                <a:srgbClr val="FFBE50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9" name="圆角矩形"/>
          <p:cNvSpPr>
            <a:spLocks/>
          </p:cNvSpPr>
          <p:nvPr/>
        </p:nvSpPr>
        <p:spPr>
          <a:xfrm rot="0">
            <a:off x="822960" y="2898647"/>
            <a:ext cx="6995160" cy="86868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0" name="矩形"/>
          <p:cNvSpPr>
            <a:spLocks/>
          </p:cNvSpPr>
          <p:nvPr/>
        </p:nvSpPr>
        <p:spPr>
          <a:xfrm rot="0">
            <a:off x="1051560" y="3008376"/>
            <a:ext cx="649224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02  PROCESSING &amp; ML</a:t>
            </a:r>
            <a:endParaRPr lang="zh-CN" altLang="en-US" sz="15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1" name="矩形"/>
          <p:cNvSpPr>
            <a:spLocks/>
          </p:cNvSpPr>
          <p:nvPr/>
        </p:nvSpPr>
        <p:spPr>
          <a:xfrm rot="0">
            <a:off x="1051560" y="3346704"/>
            <a:ext cx="6492240" cy="2175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pandas cleaning • scikit-learn preprocessing • Model training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2" name="矩形"/>
          <p:cNvSpPr>
            <a:spLocks/>
          </p:cNvSpPr>
          <p:nvPr/>
        </p:nvSpPr>
        <p:spPr>
          <a:xfrm rot="0">
            <a:off x="3840480" y="3794760"/>
            <a:ext cx="1097280" cy="3318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BE50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↓</a:t>
            </a:r>
            <a:endParaRPr lang="zh-CN" altLang="en-US" sz="2000" b="0" i="0" u="none" strike="noStrike" kern="1200" cap="none" spc="0" baseline="0">
              <a:solidFill>
                <a:srgbClr val="FFBE50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3" name="圆角矩形"/>
          <p:cNvSpPr>
            <a:spLocks/>
          </p:cNvSpPr>
          <p:nvPr/>
        </p:nvSpPr>
        <p:spPr>
          <a:xfrm rot="0">
            <a:off x="822960" y="4197096"/>
            <a:ext cx="6995160" cy="86868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4" name="矩形"/>
          <p:cNvSpPr>
            <a:spLocks/>
          </p:cNvSpPr>
          <p:nvPr/>
        </p:nvSpPr>
        <p:spPr>
          <a:xfrm rot="0">
            <a:off x="1051560" y="4306824"/>
            <a:ext cx="649224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03  OUTPUT &amp; STORAGE</a:t>
            </a:r>
            <a:endParaRPr lang="zh-CN" altLang="en-US" sz="15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5" name="矩形"/>
          <p:cNvSpPr>
            <a:spLocks/>
          </p:cNvSpPr>
          <p:nvPr/>
        </p:nvSpPr>
        <p:spPr>
          <a:xfrm rot="0">
            <a:off x="1051560" y="4645152"/>
            <a:ext cx="6492240" cy="2175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Metrics and charts • CSV predictions • joblib model</a:t>
            </a:r>
            <a:endParaRPr lang="zh-CN" altLang="en-US" sz="12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844683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7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8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9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0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1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2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3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4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5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6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7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8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9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0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1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2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3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4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5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07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6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End-to-End Workflow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7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From uploaded data to saved results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8" name="圆角矩形"/>
          <p:cNvSpPr>
            <a:spLocks/>
          </p:cNvSpPr>
          <p:nvPr/>
        </p:nvSpPr>
        <p:spPr>
          <a:xfrm rot="0">
            <a:off x="731520" y="1508759"/>
            <a:ext cx="3246120" cy="68580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9" name="矩形"/>
          <p:cNvSpPr>
            <a:spLocks/>
          </p:cNvSpPr>
          <p:nvPr/>
        </p:nvSpPr>
        <p:spPr>
          <a:xfrm rot="0">
            <a:off x="868680" y="1673351"/>
            <a:ext cx="2971799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01  Upload CSV</a:t>
            </a:r>
            <a:endParaRPr lang="zh-CN" altLang="en-US" sz="14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0" name="圆角矩形"/>
          <p:cNvSpPr>
            <a:spLocks/>
          </p:cNvSpPr>
          <p:nvPr/>
        </p:nvSpPr>
        <p:spPr>
          <a:xfrm rot="0">
            <a:off x="4526280" y="1508759"/>
            <a:ext cx="3246120" cy="68580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1" name="矩形"/>
          <p:cNvSpPr>
            <a:spLocks/>
          </p:cNvSpPr>
          <p:nvPr/>
        </p:nvSpPr>
        <p:spPr>
          <a:xfrm rot="0">
            <a:off x="4663440" y="1673351"/>
            <a:ext cx="2971799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02  Validate &amp; clean</a:t>
            </a:r>
            <a:endParaRPr lang="zh-CN" altLang="en-US" sz="14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2" name="圆角矩形"/>
          <p:cNvSpPr>
            <a:spLocks/>
          </p:cNvSpPr>
          <p:nvPr/>
        </p:nvSpPr>
        <p:spPr>
          <a:xfrm rot="0">
            <a:off x="731520" y="2651760"/>
            <a:ext cx="3246120" cy="68580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3" name="矩形"/>
          <p:cNvSpPr>
            <a:spLocks/>
          </p:cNvSpPr>
          <p:nvPr/>
        </p:nvSpPr>
        <p:spPr>
          <a:xfrm rot="0">
            <a:off x="868680" y="2816352"/>
            <a:ext cx="297179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03  Split 75 / 25</a:t>
            </a:r>
            <a:endParaRPr lang="zh-CN" altLang="en-US" sz="14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4" name="圆角矩形"/>
          <p:cNvSpPr>
            <a:spLocks/>
          </p:cNvSpPr>
          <p:nvPr/>
        </p:nvSpPr>
        <p:spPr>
          <a:xfrm rot="0">
            <a:off x="4526280" y="2651760"/>
            <a:ext cx="3246120" cy="68580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5" name="矩形"/>
          <p:cNvSpPr>
            <a:spLocks/>
          </p:cNvSpPr>
          <p:nvPr/>
        </p:nvSpPr>
        <p:spPr>
          <a:xfrm rot="0">
            <a:off x="4663440" y="2816352"/>
            <a:ext cx="297179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04  Preprocess features</a:t>
            </a:r>
            <a:endParaRPr lang="zh-CN" altLang="en-US" sz="14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6" name="圆角矩形"/>
          <p:cNvSpPr>
            <a:spLocks/>
          </p:cNvSpPr>
          <p:nvPr/>
        </p:nvSpPr>
        <p:spPr>
          <a:xfrm rot="0">
            <a:off x="731520" y="3794760"/>
            <a:ext cx="3246120" cy="68580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7" name="矩形"/>
          <p:cNvSpPr>
            <a:spLocks/>
          </p:cNvSpPr>
          <p:nvPr/>
        </p:nvSpPr>
        <p:spPr>
          <a:xfrm rot="0">
            <a:off x="868680" y="3959352"/>
            <a:ext cx="297179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05  Train classifier</a:t>
            </a:r>
            <a:endParaRPr lang="zh-CN" altLang="en-US" sz="14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8" name="圆角矩形"/>
          <p:cNvSpPr>
            <a:spLocks/>
          </p:cNvSpPr>
          <p:nvPr/>
        </p:nvSpPr>
        <p:spPr>
          <a:xfrm rot="0">
            <a:off x="4526280" y="3794760"/>
            <a:ext cx="3246120" cy="68580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9" name="矩形"/>
          <p:cNvSpPr>
            <a:spLocks/>
          </p:cNvSpPr>
          <p:nvPr/>
        </p:nvSpPr>
        <p:spPr>
          <a:xfrm rot="0">
            <a:off x="4663440" y="3959352"/>
            <a:ext cx="297179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06  Evaluate results</a:t>
            </a:r>
            <a:endParaRPr lang="zh-CN" altLang="en-US" sz="14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0" name="圆角矩形"/>
          <p:cNvSpPr>
            <a:spLocks/>
          </p:cNvSpPr>
          <p:nvPr/>
        </p:nvSpPr>
        <p:spPr>
          <a:xfrm rot="0">
            <a:off x="731520" y="4937760"/>
            <a:ext cx="3246120" cy="685800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1" name="矩形"/>
          <p:cNvSpPr>
            <a:spLocks/>
          </p:cNvSpPr>
          <p:nvPr/>
        </p:nvSpPr>
        <p:spPr>
          <a:xfrm rot="0">
            <a:off x="868680" y="5102352"/>
            <a:ext cx="297179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07  Export / save</a:t>
            </a:r>
            <a:endParaRPr lang="zh-CN" altLang="en-US" sz="14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2" name="矩形"/>
          <p:cNvSpPr>
            <a:spLocks/>
          </p:cNvSpPr>
          <p:nvPr/>
        </p:nvSpPr>
        <p:spPr>
          <a:xfrm rot="0">
            <a:off x="822960" y="5623560"/>
            <a:ext cx="685800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Validation requires at least 10 rows, 2 columns and 2 target classes.</a:t>
            </a:r>
            <a:endParaRPr lang="zh-CN" altLang="en-US" sz="12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410258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4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5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6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7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8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9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0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1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2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3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4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5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6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7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8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59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60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61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2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08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3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Dataset Validation &amp; Cleaning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4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Safeguards applied before model training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5" name="椭圆"/>
          <p:cNvSpPr>
            <a:spLocks/>
          </p:cNvSpPr>
          <p:nvPr/>
        </p:nvSpPr>
        <p:spPr>
          <a:xfrm rot="0">
            <a:off x="731520" y="1627631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66" name="矩形"/>
          <p:cNvSpPr>
            <a:spLocks/>
          </p:cNvSpPr>
          <p:nvPr/>
        </p:nvSpPr>
        <p:spPr>
          <a:xfrm rot="0">
            <a:off x="987551" y="1508759"/>
            <a:ext cx="7406639" cy="7040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Preview row/column counts and first 20 records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7" name="椭圆"/>
          <p:cNvSpPr>
            <a:spLocks/>
          </p:cNvSpPr>
          <p:nvPr/>
        </p:nvSpPr>
        <p:spPr>
          <a:xfrm rot="0">
            <a:off x="731520" y="2331720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68" name="矩形"/>
          <p:cNvSpPr>
            <a:spLocks/>
          </p:cNvSpPr>
          <p:nvPr/>
        </p:nvSpPr>
        <p:spPr>
          <a:xfrm rot="0">
            <a:off x="987551" y="2212848"/>
            <a:ext cx="7406639" cy="7040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Suggest common target names: Label, class, target, attack or category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9" name="椭圆"/>
          <p:cNvSpPr>
            <a:spLocks/>
          </p:cNvSpPr>
          <p:nvPr/>
        </p:nvSpPr>
        <p:spPr>
          <a:xfrm rot="0">
            <a:off x="731520" y="303580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0" name="矩形"/>
          <p:cNvSpPr>
            <a:spLocks/>
          </p:cNvSpPr>
          <p:nvPr/>
        </p:nvSpPr>
        <p:spPr>
          <a:xfrm rot="0">
            <a:off x="987551" y="2916936"/>
            <a:ext cx="7406639" cy="7040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Replace infinite values and drop rows with missing labels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71" name="椭圆"/>
          <p:cNvSpPr>
            <a:spLocks/>
          </p:cNvSpPr>
          <p:nvPr/>
        </p:nvSpPr>
        <p:spPr>
          <a:xfrm rot="0">
            <a:off x="731520" y="3739896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2" name="矩形"/>
          <p:cNvSpPr>
            <a:spLocks/>
          </p:cNvSpPr>
          <p:nvPr/>
        </p:nvSpPr>
        <p:spPr>
          <a:xfrm rot="0">
            <a:off x="987551" y="3621024"/>
            <a:ext cx="7406639" cy="7040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Remove identifier-like and entirely empty columns to reduce leakage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73" name="椭圆"/>
          <p:cNvSpPr>
            <a:spLocks/>
          </p:cNvSpPr>
          <p:nvPr/>
        </p:nvSpPr>
        <p:spPr>
          <a:xfrm rot="0">
            <a:off x="731520" y="4443984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4" name="矩形"/>
          <p:cNvSpPr>
            <a:spLocks/>
          </p:cNvSpPr>
          <p:nvPr/>
        </p:nvSpPr>
        <p:spPr>
          <a:xfrm rot="0">
            <a:off x="987551" y="4325112"/>
            <a:ext cx="7406639" cy="70408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Stop with a clear message if no usable features or fewer than two classes remain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460642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6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7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8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9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0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1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2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3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4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5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6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7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8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9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90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91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92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93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4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09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5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Feature Preprocessing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6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single scikit-learn pipeline keeps training and prediction consistent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7" name="矩形"/>
          <p:cNvSpPr>
            <a:spLocks/>
          </p:cNvSpPr>
          <p:nvPr/>
        </p:nvSpPr>
        <p:spPr>
          <a:xfrm rot="0">
            <a:off x="822960" y="1554480"/>
            <a:ext cx="329184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NUMERIC / BOOLEAN</a:t>
            </a:r>
            <a:endParaRPr lang="zh-CN" altLang="en-US" sz="16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8" name="椭圆"/>
          <p:cNvSpPr>
            <a:spLocks/>
          </p:cNvSpPr>
          <p:nvPr/>
        </p:nvSpPr>
        <p:spPr>
          <a:xfrm rot="0">
            <a:off x="868680" y="2176272"/>
            <a:ext cx="100584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99" name="矩形"/>
          <p:cNvSpPr>
            <a:spLocks/>
          </p:cNvSpPr>
          <p:nvPr/>
        </p:nvSpPr>
        <p:spPr>
          <a:xfrm rot="0">
            <a:off x="1124712" y="2057400"/>
            <a:ext cx="28803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Median imputation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0" name="椭圆"/>
          <p:cNvSpPr>
            <a:spLocks/>
          </p:cNvSpPr>
          <p:nvPr/>
        </p:nvSpPr>
        <p:spPr>
          <a:xfrm rot="0">
            <a:off x="868680" y="2862072"/>
            <a:ext cx="100584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01" name="矩形"/>
          <p:cNvSpPr>
            <a:spLocks/>
          </p:cNvSpPr>
          <p:nvPr/>
        </p:nvSpPr>
        <p:spPr>
          <a:xfrm rot="0">
            <a:off x="1124712" y="2743200"/>
            <a:ext cx="2880360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Standard scaling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2" name="矩形"/>
          <p:cNvSpPr>
            <a:spLocks/>
          </p:cNvSpPr>
          <p:nvPr/>
        </p:nvSpPr>
        <p:spPr>
          <a:xfrm rot="0">
            <a:off x="4480560" y="1554480"/>
            <a:ext cx="329184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CATEGORICAL</a:t>
            </a:r>
            <a:endParaRPr lang="zh-CN" altLang="en-US" sz="16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3" name="椭圆"/>
          <p:cNvSpPr>
            <a:spLocks/>
          </p:cNvSpPr>
          <p:nvPr/>
        </p:nvSpPr>
        <p:spPr>
          <a:xfrm rot="0">
            <a:off x="4526280" y="2176272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04" name="矩形"/>
          <p:cNvSpPr>
            <a:spLocks/>
          </p:cNvSpPr>
          <p:nvPr/>
        </p:nvSpPr>
        <p:spPr>
          <a:xfrm rot="0">
            <a:off x="4782312" y="2057400"/>
            <a:ext cx="301751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Most-frequent imputation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5" name="椭圆"/>
          <p:cNvSpPr>
            <a:spLocks/>
          </p:cNvSpPr>
          <p:nvPr/>
        </p:nvSpPr>
        <p:spPr>
          <a:xfrm rot="0">
            <a:off x="4526280" y="2862072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06" name="矩形"/>
          <p:cNvSpPr>
            <a:spLocks/>
          </p:cNvSpPr>
          <p:nvPr/>
        </p:nvSpPr>
        <p:spPr>
          <a:xfrm rot="0">
            <a:off x="4782312" y="2743200"/>
            <a:ext cx="301751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One-hot encoding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7" name="椭圆"/>
          <p:cNvSpPr>
            <a:spLocks/>
          </p:cNvSpPr>
          <p:nvPr/>
        </p:nvSpPr>
        <p:spPr>
          <a:xfrm rot="0">
            <a:off x="4526280" y="3547872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08" name="矩形"/>
          <p:cNvSpPr>
            <a:spLocks/>
          </p:cNvSpPr>
          <p:nvPr/>
        </p:nvSpPr>
        <p:spPr>
          <a:xfrm rot="0">
            <a:off x="4782312" y="3429000"/>
            <a:ext cx="3017519" cy="685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Ignore unseen categories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9" name="矩形"/>
          <p:cNvSpPr>
            <a:spLocks/>
          </p:cNvSpPr>
          <p:nvPr/>
        </p:nvSpPr>
        <p:spPr>
          <a:xfrm rot="0">
            <a:off x="868680" y="4754880"/>
            <a:ext cx="685799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FBE50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ColumnTransformer combines both feature pipelines before classification.</a:t>
            </a:r>
            <a:endParaRPr lang="zh-CN" altLang="en-US" sz="1400" b="0" i="0" u="none" strike="noStrike" kern="1200" cap="none" spc="0" baseline="0">
              <a:solidFill>
                <a:srgbClr val="FFBE50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05828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1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2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3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4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5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6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7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8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9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0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1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2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3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4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5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6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7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8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29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10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0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Machine Learning Models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1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Two supervised classifiers are available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2" name="矩形"/>
          <p:cNvSpPr>
            <a:spLocks/>
          </p:cNvSpPr>
          <p:nvPr/>
        </p:nvSpPr>
        <p:spPr>
          <a:xfrm rot="0">
            <a:off x="822960" y="1645920"/>
            <a:ext cx="320040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9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RANDOM FOREST</a:t>
            </a:r>
            <a:endParaRPr lang="zh-CN" altLang="en-US" sz="19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3" name="椭圆"/>
          <p:cNvSpPr>
            <a:spLocks/>
          </p:cNvSpPr>
          <p:nvPr/>
        </p:nvSpPr>
        <p:spPr>
          <a:xfrm rot="0">
            <a:off x="868680" y="2267712"/>
            <a:ext cx="100584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34" name="矩形"/>
          <p:cNvSpPr>
            <a:spLocks/>
          </p:cNvSpPr>
          <p:nvPr/>
        </p:nvSpPr>
        <p:spPr>
          <a:xfrm rot="0">
            <a:off x="1124712" y="2148840"/>
            <a:ext cx="2971800" cy="6583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150 trees</a:t>
            </a:r>
            <a:endParaRPr lang="zh-CN" altLang="en-US" sz="16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5" name="椭圆"/>
          <p:cNvSpPr>
            <a:spLocks/>
          </p:cNvSpPr>
          <p:nvPr/>
        </p:nvSpPr>
        <p:spPr>
          <a:xfrm rot="0">
            <a:off x="868680" y="2926080"/>
            <a:ext cx="100584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36" name="矩形"/>
          <p:cNvSpPr>
            <a:spLocks/>
          </p:cNvSpPr>
          <p:nvPr/>
        </p:nvSpPr>
        <p:spPr>
          <a:xfrm rot="0">
            <a:off x="1124712" y="2807208"/>
            <a:ext cx="2971800" cy="658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balanced_subsample class weights</a:t>
            </a:r>
            <a:endParaRPr lang="zh-CN" altLang="en-US" sz="16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7" name="椭圆"/>
          <p:cNvSpPr>
            <a:spLocks/>
          </p:cNvSpPr>
          <p:nvPr/>
        </p:nvSpPr>
        <p:spPr>
          <a:xfrm rot="0">
            <a:off x="868680" y="3584448"/>
            <a:ext cx="100584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38" name="矩形"/>
          <p:cNvSpPr>
            <a:spLocks/>
          </p:cNvSpPr>
          <p:nvPr/>
        </p:nvSpPr>
        <p:spPr>
          <a:xfrm rot="0">
            <a:off x="1124712" y="3465576"/>
            <a:ext cx="2971800" cy="658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Parallel processing enabled</a:t>
            </a:r>
            <a:endParaRPr lang="zh-CN" altLang="en-US" sz="16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9" name="矩形"/>
          <p:cNvSpPr>
            <a:spLocks/>
          </p:cNvSpPr>
          <p:nvPr/>
        </p:nvSpPr>
        <p:spPr>
          <a:xfrm rot="0">
            <a:off x="4480560" y="1645920"/>
            <a:ext cx="3200400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9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LOGISTIC REGRESSION</a:t>
            </a:r>
            <a:endParaRPr lang="zh-CN" altLang="en-US" sz="19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40" name="椭圆"/>
          <p:cNvSpPr>
            <a:spLocks/>
          </p:cNvSpPr>
          <p:nvPr/>
        </p:nvSpPr>
        <p:spPr>
          <a:xfrm rot="0">
            <a:off x="4526280" y="2267712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41" name="矩形"/>
          <p:cNvSpPr>
            <a:spLocks/>
          </p:cNvSpPr>
          <p:nvPr/>
        </p:nvSpPr>
        <p:spPr>
          <a:xfrm rot="0">
            <a:off x="4782312" y="2148840"/>
            <a:ext cx="2971800" cy="6583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Maximum 1,000 iterations</a:t>
            </a:r>
            <a:endParaRPr lang="zh-CN" altLang="en-US" sz="16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42" name="椭圆"/>
          <p:cNvSpPr>
            <a:spLocks/>
          </p:cNvSpPr>
          <p:nvPr/>
        </p:nvSpPr>
        <p:spPr>
          <a:xfrm rot="0">
            <a:off x="4526280" y="2926080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43" name="矩形"/>
          <p:cNvSpPr>
            <a:spLocks/>
          </p:cNvSpPr>
          <p:nvPr/>
        </p:nvSpPr>
        <p:spPr>
          <a:xfrm rot="0">
            <a:off x="4782312" y="2807208"/>
            <a:ext cx="2971800" cy="658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Balanced class weights</a:t>
            </a:r>
            <a:endParaRPr lang="zh-CN" altLang="en-US" sz="16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44" name="椭圆"/>
          <p:cNvSpPr>
            <a:spLocks/>
          </p:cNvSpPr>
          <p:nvPr/>
        </p:nvSpPr>
        <p:spPr>
          <a:xfrm rot="0">
            <a:off x="4526280" y="358444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45" name="矩形"/>
          <p:cNvSpPr>
            <a:spLocks/>
          </p:cNvSpPr>
          <p:nvPr/>
        </p:nvSpPr>
        <p:spPr>
          <a:xfrm rot="0">
            <a:off x="4782312" y="3465576"/>
            <a:ext cx="2971800" cy="6583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Fast linear baseline</a:t>
            </a:r>
            <a:endParaRPr lang="zh-CN" altLang="en-US" sz="16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46" name="矩形"/>
          <p:cNvSpPr>
            <a:spLocks/>
          </p:cNvSpPr>
          <p:nvPr/>
        </p:nvSpPr>
        <p:spPr>
          <a:xfrm rot="0">
            <a:off x="868680" y="4754880"/>
            <a:ext cx="6857999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The fitted preprocessor and estimator are stored together in one Pipeline.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625786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48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49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0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1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2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3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4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5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6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7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8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9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60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61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62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63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64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65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6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11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7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Evaluation &amp; Visualisation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8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Metrics and charts displayed by the dashboard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9" name="椭圆"/>
          <p:cNvSpPr>
            <a:spLocks/>
          </p:cNvSpPr>
          <p:nvPr/>
        </p:nvSpPr>
        <p:spPr>
          <a:xfrm rot="0">
            <a:off x="731520" y="1627631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70" name="矩形"/>
          <p:cNvSpPr>
            <a:spLocks/>
          </p:cNvSpPr>
          <p:nvPr/>
        </p:nvSpPr>
        <p:spPr>
          <a:xfrm rot="0">
            <a:off x="987551" y="1508759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Accuracy and weighted precision, recall and F1-score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1" name="椭圆"/>
          <p:cNvSpPr>
            <a:spLocks/>
          </p:cNvSpPr>
          <p:nvPr/>
        </p:nvSpPr>
        <p:spPr>
          <a:xfrm rot="0">
            <a:off x="731520" y="2340863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72" name="矩形"/>
          <p:cNvSpPr>
            <a:spLocks/>
          </p:cNvSpPr>
          <p:nvPr/>
        </p:nvSpPr>
        <p:spPr>
          <a:xfrm rot="0">
            <a:off x="987551" y="2221991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Confusion matrix: true labels versus predicted labels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3" name="椭圆"/>
          <p:cNvSpPr>
            <a:spLocks/>
          </p:cNvSpPr>
          <p:nvPr/>
        </p:nvSpPr>
        <p:spPr>
          <a:xfrm rot="0">
            <a:off x="731520" y="3054095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74" name="矩形"/>
          <p:cNvSpPr>
            <a:spLocks/>
          </p:cNvSpPr>
          <p:nvPr/>
        </p:nvSpPr>
        <p:spPr>
          <a:xfrm rot="0">
            <a:off x="987551" y="2935223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Per-class precision, recall, F1-score and support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5" name="椭圆"/>
          <p:cNvSpPr>
            <a:spLocks/>
          </p:cNvSpPr>
          <p:nvPr/>
        </p:nvSpPr>
        <p:spPr>
          <a:xfrm rot="0">
            <a:off x="731520" y="376732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76" name="矩形"/>
          <p:cNvSpPr>
            <a:spLocks/>
          </p:cNvSpPr>
          <p:nvPr/>
        </p:nvSpPr>
        <p:spPr>
          <a:xfrm rot="0">
            <a:off x="987551" y="3648456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Prediction summary table and bar chart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7" name="椭圆"/>
          <p:cNvSpPr>
            <a:spLocks/>
          </p:cNvSpPr>
          <p:nvPr/>
        </p:nvSpPr>
        <p:spPr>
          <a:xfrm rot="0">
            <a:off x="731520" y="4480559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78" name="矩形"/>
          <p:cNvSpPr>
            <a:spLocks/>
          </p:cNvSpPr>
          <p:nvPr/>
        </p:nvSpPr>
        <p:spPr>
          <a:xfrm rot="0">
            <a:off x="987551" y="4361688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Download test records with actual and predicted labels as CSV</a:t>
            </a:r>
            <a:endParaRPr lang="zh-CN" altLang="en-US" sz="18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279376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0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1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2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3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4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5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6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7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8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9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0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1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2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3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4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5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6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7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98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12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99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Demo Dataset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0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Synthetic network-flow data used to test the workflow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1" name="圆角矩形"/>
          <p:cNvSpPr>
            <a:spLocks/>
          </p:cNvSpPr>
          <p:nvPr/>
        </p:nvSpPr>
        <p:spPr>
          <a:xfrm rot="0">
            <a:off x="731520" y="1691639"/>
            <a:ext cx="1645920" cy="1051559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02" name="矩形"/>
          <p:cNvSpPr>
            <a:spLocks/>
          </p:cNvSpPr>
          <p:nvPr/>
        </p:nvSpPr>
        <p:spPr>
          <a:xfrm rot="0">
            <a:off x="841248" y="1856230"/>
            <a:ext cx="141732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5,200</a:t>
            </a:r>
            <a:endParaRPr lang="zh-CN" altLang="en-US" sz="23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3" name="矩形"/>
          <p:cNvSpPr>
            <a:spLocks/>
          </p:cNvSpPr>
          <p:nvPr/>
        </p:nvSpPr>
        <p:spPr>
          <a:xfrm rot="0">
            <a:off x="804672" y="2304288"/>
            <a:ext cx="150875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TOTAL RECORDS</a:t>
            </a:r>
            <a:endParaRPr lang="zh-CN" altLang="en-US" sz="9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4" name="圆角矩形"/>
          <p:cNvSpPr>
            <a:spLocks/>
          </p:cNvSpPr>
          <p:nvPr/>
        </p:nvSpPr>
        <p:spPr>
          <a:xfrm rot="0">
            <a:off x="2651760" y="1691639"/>
            <a:ext cx="1645920" cy="1051559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05" name="矩形"/>
          <p:cNvSpPr>
            <a:spLocks/>
          </p:cNvSpPr>
          <p:nvPr/>
        </p:nvSpPr>
        <p:spPr>
          <a:xfrm rot="0">
            <a:off x="2761488" y="1856230"/>
            <a:ext cx="141732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3,900</a:t>
            </a:r>
            <a:endParaRPr lang="zh-CN" altLang="en-US" sz="23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6" name="矩形"/>
          <p:cNvSpPr>
            <a:spLocks/>
          </p:cNvSpPr>
          <p:nvPr/>
        </p:nvSpPr>
        <p:spPr>
          <a:xfrm rot="0">
            <a:off x="2724912" y="2304288"/>
            <a:ext cx="150875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TRAINING</a:t>
            </a:r>
            <a:endParaRPr lang="zh-CN" altLang="en-US" sz="9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7" name="圆角矩形"/>
          <p:cNvSpPr>
            <a:spLocks/>
          </p:cNvSpPr>
          <p:nvPr/>
        </p:nvSpPr>
        <p:spPr>
          <a:xfrm rot="0">
            <a:off x="4572000" y="1691639"/>
            <a:ext cx="1645919" cy="1051559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08" name="矩形"/>
          <p:cNvSpPr>
            <a:spLocks/>
          </p:cNvSpPr>
          <p:nvPr/>
        </p:nvSpPr>
        <p:spPr>
          <a:xfrm rot="0">
            <a:off x="4681728" y="1856230"/>
            <a:ext cx="141731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1,300</a:t>
            </a:r>
            <a:endParaRPr lang="zh-CN" altLang="en-US" sz="23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9" name="矩形"/>
          <p:cNvSpPr>
            <a:spLocks/>
          </p:cNvSpPr>
          <p:nvPr/>
        </p:nvSpPr>
        <p:spPr>
          <a:xfrm rot="0">
            <a:off x="4645152" y="2304288"/>
            <a:ext cx="150875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TESTING</a:t>
            </a:r>
            <a:endParaRPr lang="zh-CN" altLang="en-US" sz="9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10" name="圆角矩形"/>
          <p:cNvSpPr>
            <a:spLocks/>
          </p:cNvSpPr>
          <p:nvPr/>
        </p:nvSpPr>
        <p:spPr>
          <a:xfrm rot="0">
            <a:off x="6492240" y="1691639"/>
            <a:ext cx="1645920" cy="1051559"/>
          </a:xfrm>
          <a:prstGeom prst="roundRect">
            <a:avLst>
              <a:gd name="adj" fmla="val 16666"/>
            </a:avLst>
          </a:prstGeom>
          <a:solidFill>
            <a:srgbClr val="0F2142"/>
          </a:solidFill>
          <a:ln w="9525" cmpd="sng" cap="flat">
            <a:solidFill>
              <a:srgbClr val="00AAA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11" name="矩形"/>
          <p:cNvSpPr>
            <a:spLocks/>
          </p:cNvSpPr>
          <p:nvPr/>
        </p:nvSpPr>
        <p:spPr>
          <a:xfrm rot="0">
            <a:off x="6601968" y="1856230"/>
            <a:ext cx="141731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4</a:t>
            </a:r>
            <a:endParaRPr lang="zh-CN" altLang="en-US" sz="23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12" name="矩形"/>
          <p:cNvSpPr>
            <a:spLocks/>
          </p:cNvSpPr>
          <p:nvPr/>
        </p:nvSpPr>
        <p:spPr>
          <a:xfrm rot="0">
            <a:off x="6565392" y="2304288"/>
            <a:ext cx="150875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LABEL CLASSES</a:t>
            </a:r>
            <a:endParaRPr lang="zh-CN" altLang="en-US" sz="9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13" name="矩形"/>
          <p:cNvSpPr>
            <a:spLocks/>
          </p:cNvSpPr>
          <p:nvPr/>
        </p:nvSpPr>
        <p:spPr>
          <a:xfrm rot="0">
            <a:off x="822960" y="3246120"/>
            <a:ext cx="704088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Labels: BENIGN • BruteForce • DoS • PortScan</a:t>
            </a:r>
            <a:endParaRPr lang="zh-CN" altLang="en-US" sz="16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14" name="矩形"/>
          <p:cNvSpPr>
            <a:spLocks/>
          </p:cNvSpPr>
          <p:nvPr/>
        </p:nvSpPr>
        <p:spPr>
          <a:xfrm rot="0">
            <a:off x="822960" y="3886200"/>
            <a:ext cx="7040880" cy="10058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Features include duration, source/destination bytes, packets, failed logins, connection rate, protocol, service and flag.</a:t>
            </a:r>
            <a:endParaRPr lang="en-US" altLang="zh-CN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The dataset is synthetic; scores do not represent real-world detection performance.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038490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16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17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18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19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0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1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2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3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4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5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6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7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8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29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30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31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32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33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34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13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35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Sample Model Performance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36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Reported results on the synthetic demo dataset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graphicFrame>
        <p:nvGraphicFramePr>
          <p:cNvPr id="437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685800" y="1828800"/>
          <a:ext cx="7452360" cy="1417319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011679"/>
                <a:gridCol w="1051560"/>
                <a:gridCol w="1051560"/>
                <a:gridCol w="960119"/>
                <a:gridCol w="1051560"/>
                <a:gridCol w="1325880"/>
              </a:tblGrid>
              <a:tr h="47243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Model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Accuracy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Precision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Recall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F1-score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Train time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AA0"/>
                    </a:solidFill>
                  </a:tcPr>
                </a:tc>
              </a:tr>
              <a:tr h="47243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Random Forest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0.9992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0.9992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0.9992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0.9992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0.58 s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</a:tr>
              <a:tr h="472432"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Logistic Regression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0.9985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0.9985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0.9985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0.9985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F5F8FC"/>
                          </a:solidFill>
                          <a:latin typeface="Aptos" pitchFamily="0" charset="0"/>
                          <a:ea typeface="宋体" pitchFamily="0" charset="0"/>
                          <a:cs typeface="Calibri" pitchFamily="0" charset="0"/>
                        </a:rPr>
                        <a:t>0.02 s</a:t>
                      </a:r>
                      <a:endParaRPr lang="zh-CN" altLang="en-US" sz="1100" b="0" i="0" u="none" strike="noStrike" kern="1200" cap="none" spc="0" baseline="0">
                        <a:solidFill>
                          <a:srgbClr val="F5F8FC"/>
                        </a:solidFill>
                        <a:latin typeface="Aptos" pitchFamily="0" charset="0"/>
                        <a:ea typeface="宋体" pitchFamily="0" charset="0"/>
                        <a:cs typeface="Calibri" pitchFamily="0" charset="0"/>
                      </a:endParaRPr>
                    </a:p>
                  </a:txBody>
                  <a:tcPr marL="54864" marT="45720" marR="36576" marB="27432" vert="horz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2142"/>
                    </a:solidFill>
                  </a:tcPr>
                </a:tc>
              </a:tr>
            </a:tbl>
          </a:graphicData>
        </a:graphic>
      </p:graphicFrame>
      <p:sp>
        <p:nvSpPr>
          <p:cNvPr id="438" name="矩形"/>
          <p:cNvSpPr>
            <a:spLocks/>
          </p:cNvSpPr>
          <p:nvPr/>
        </p:nvSpPr>
        <p:spPr>
          <a:xfrm rot="0">
            <a:off x="822960" y="3749039"/>
            <a:ext cx="7132320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Random Forest achieved 99.92% accuracy; Logistic Regression achieved 99.85% and trained faster. These high scores are expected from clearly separated synthetic classes and must not be interpreted as real-world performance.</a:t>
            </a:r>
            <a:endParaRPr lang="zh-CN" altLang="en-US" sz="14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583395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0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1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2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3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4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5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6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7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8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9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0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1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2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3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4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5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6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57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58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14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59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Functional Testing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0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Key cases covered during project validation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1" name="椭圆"/>
          <p:cNvSpPr>
            <a:spLocks/>
          </p:cNvSpPr>
          <p:nvPr/>
        </p:nvSpPr>
        <p:spPr>
          <a:xfrm rot="0">
            <a:off x="731520" y="1627631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62" name="矩形"/>
          <p:cNvSpPr>
            <a:spLocks/>
          </p:cNvSpPr>
          <p:nvPr/>
        </p:nvSpPr>
        <p:spPr>
          <a:xfrm rot="0">
            <a:off x="987551" y="1508759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Missing values in numeric and categorical columns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3" name="椭圆"/>
          <p:cNvSpPr>
            <a:spLocks/>
          </p:cNvSpPr>
          <p:nvPr/>
        </p:nvSpPr>
        <p:spPr>
          <a:xfrm rot="0">
            <a:off x="731520" y="2340863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64" name="矩形"/>
          <p:cNvSpPr>
            <a:spLocks/>
          </p:cNvSpPr>
          <p:nvPr/>
        </p:nvSpPr>
        <p:spPr>
          <a:xfrm rot="0">
            <a:off x="987551" y="2221991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Infinite values and unseen categorical values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5" name="椭圆"/>
          <p:cNvSpPr>
            <a:spLocks/>
          </p:cNvSpPr>
          <p:nvPr/>
        </p:nvSpPr>
        <p:spPr>
          <a:xfrm rot="0">
            <a:off x="731520" y="3054095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66" name="矩形"/>
          <p:cNvSpPr>
            <a:spLocks/>
          </p:cNvSpPr>
          <p:nvPr/>
        </p:nvSpPr>
        <p:spPr>
          <a:xfrm rot="0">
            <a:off x="987551" y="2935223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Rare classes and single-class target validation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7" name="椭圆"/>
          <p:cNvSpPr>
            <a:spLocks/>
          </p:cNvSpPr>
          <p:nvPr/>
        </p:nvSpPr>
        <p:spPr>
          <a:xfrm rot="0">
            <a:off x="731520" y="376732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68" name="矩形"/>
          <p:cNvSpPr>
            <a:spLocks/>
          </p:cNvSpPr>
          <p:nvPr/>
        </p:nvSpPr>
        <p:spPr>
          <a:xfrm rot="0">
            <a:off x="987551" y="3648456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Numeric-only and categorical-only datasets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9" name="椭圆"/>
          <p:cNvSpPr>
            <a:spLocks/>
          </p:cNvSpPr>
          <p:nvPr/>
        </p:nvSpPr>
        <p:spPr>
          <a:xfrm rot="0">
            <a:off x="731520" y="4480559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0" name="矩形"/>
          <p:cNvSpPr>
            <a:spLocks/>
          </p:cNvSpPr>
          <p:nvPr/>
        </p:nvSpPr>
        <p:spPr>
          <a:xfrm rot="0">
            <a:off x="987551" y="4361688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Saving/reloading the model and checking prediction consistency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16429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2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3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4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5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6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7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8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9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0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1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2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3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4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5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6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7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8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9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0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15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1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Limitations &amp; Responsible Use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2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Important interpretation and safety notes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3" name="椭圆"/>
          <p:cNvSpPr>
            <a:spLocks/>
          </p:cNvSpPr>
          <p:nvPr/>
        </p:nvSpPr>
        <p:spPr>
          <a:xfrm rot="0">
            <a:off x="731520" y="1627631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94" name="矩形"/>
          <p:cNvSpPr>
            <a:spLocks/>
          </p:cNvSpPr>
          <p:nvPr/>
        </p:nvSpPr>
        <p:spPr>
          <a:xfrm rot="0">
            <a:off x="987551" y="1508759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Educational prototype; it does not monitor a live cloud account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5" name="椭圆"/>
          <p:cNvSpPr>
            <a:spLocks/>
          </p:cNvSpPr>
          <p:nvPr/>
        </p:nvSpPr>
        <p:spPr>
          <a:xfrm rot="0">
            <a:off x="731520" y="2340863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96" name="矩形"/>
          <p:cNvSpPr>
            <a:spLocks/>
          </p:cNvSpPr>
          <p:nvPr/>
        </p:nvSpPr>
        <p:spPr>
          <a:xfrm rot="0">
            <a:off x="987551" y="2221991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Model quality depends on dataset quality, class balance and feature choice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7" name="椭圆"/>
          <p:cNvSpPr>
            <a:spLocks/>
          </p:cNvSpPr>
          <p:nvPr/>
        </p:nvSpPr>
        <p:spPr>
          <a:xfrm rot="0">
            <a:off x="731520" y="3054095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98" name="矩形"/>
          <p:cNvSpPr>
            <a:spLocks/>
          </p:cNvSpPr>
          <p:nvPr/>
        </p:nvSpPr>
        <p:spPr>
          <a:xfrm rot="0">
            <a:off x="987551" y="2935223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Synthetic-demo results are not evidence of production-level accuracy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9" name="椭圆"/>
          <p:cNvSpPr>
            <a:spLocks/>
          </p:cNvSpPr>
          <p:nvPr/>
        </p:nvSpPr>
        <p:spPr>
          <a:xfrm rot="0">
            <a:off x="731520" y="376732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0" name="矩形"/>
          <p:cNvSpPr>
            <a:spLocks/>
          </p:cNvSpPr>
          <p:nvPr/>
        </p:nvSpPr>
        <p:spPr>
          <a:xfrm rot="0">
            <a:off x="987551" y="3648456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Predictions are indicators for human review, not proof of an attack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01" name="椭圆"/>
          <p:cNvSpPr>
            <a:spLocks/>
          </p:cNvSpPr>
          <p:nvPr/>
        </p:nvSpPr>
        <p:spPr>
          <a:xfrm rot="0">
            <a:off x="731520" y="4480559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2" name="矩形"/>
          <p:cNvSpPr>
            <a:spLocks/>
          </p:cNvSpPr>
          <p:nvPr/>
        </p:nvSpPr>
        <p:spPr>
          <a:xfrm rot="0">
            <a:off x="987551" y="4361688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Use only authorised datasets; never upload credentials, secrets or personal data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030837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4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5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6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7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8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09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0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1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2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3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4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5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6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7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8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9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20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21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22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16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23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Future Enhancements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24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Extensions proposed in the report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25" name="椭圆"/>
          <p:cNvSpPr>
            <a:spLocks/>
          </p:cNvSpPr>
          <p:nvPr/>
        </p:nvSpPr>
        <p:spPr>
          <a:xfrm rot="0">
            <a:off x="731520" y="1627631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26" name="矩形"/>
          <p:cNvSpPr>
            <a:spLocks/>
          </p:cNvSpPr>
          <p:nvPr/>
        </p:nvSpPr>
        <p:spPr>
          <a:xfrm rot="0">
            <a:off x="987551" y="1508759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Evaluate on benchmark datasets such as CIC-IDS2017 and UNSW-NB15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27" name="椭圆"/>
          <p:cNvSpPr>
            <a:spLocks/>
          </p:cNvSpPr>
          <p:nvPr/>
        </p:nvSpPr>
        <p:spPr>
          <a:xfrm rot="0">
            <a:off x="731520" y="2340863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28" name="矩形"/>
          <p:cNvSpPr>
            <a:spLocks/>
          </p:cNvSpPr>
          <p:nvPr/>
        </p:nvSpPr>
        <p:spPr>
          <a:xfrm rot="0">
            <a:off x="987551" y="2221991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Add Gradient Boosting, XGBoost, SVM and deep-learning models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29" name="椭圆"/>
          <p:cNvSpPr>
            <a:spLocks/>
          </p:cNvSpPr>
          <p:nvPr/>
        </p:nvSpPr>
        <p:spPr>
          <a:xfrm rot="0">
            <a:off x="731520" y="3054095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0" name="矩形"/>
          <p:cNvSpPr>
            <a:spLocks/>
          </p:cNvSpPr>
          <p:nvPr/>
        </p:nvSpPr>
        <p:spPr>
          <a:xfrm rot="0">
            <a:off x="987551" y="2935223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Introduce hyperparameter tuning, cross-validation and feature importance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31" name="椭圆"/>
          <p:cNvSpPr>
            <a:spLocks/>
          </p:cNvSpPr>
          <p:nvPr/>
        </p:nvSpPr>
        <p:spPr>
          <a:xfrm rot="0">
            <a:off x="731520" y="376732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2" name="矩形"/>
          <p:cNvSpPr>
            <a:spLocks/>
          </p:cNvSpPr>
          <p:nvPr/>
        </p:nvSpPr>
        <p:spPr>
          <a:xfrm rot="0">
            <a:off x="987551" y="3648456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Address class imbalance and add ROC-AUC / precision-recall curves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33" name="椭圆"/>
          <p:cNvSpPr>
            <a:spLocks/>
          </p:cNvSpPr>
          <p:nvPr/>
        </p:nvSpPr>
        <p:spPr>
          <a:xfrm rot="0">
            <a:off x="731520" y="4480559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4" name="矩形"/>
          <p:cNvSpPr>
            <a:spLocks/>
          </p:cNvSpPr>
          <p:nvPr/>
        </p:nvSpPr>
        <p:spPr>
          <a:xfrm rot="0">
            <a:off x="987551" y="4361688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Integrate live cloud logs, real-time alerts and cloud deployment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883825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6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7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8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39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0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1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2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3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4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5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6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7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8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49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50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51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52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53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4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17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5" name="矩形"/>
          <p:cNvSpPr>
            <a:spLocks/>
          </p:cNvSpPr>
          <p:nvPr/>
        </p:nvSpPr>
        <p:spPr>
          <a:xfrm rot="0">
            <a:off x="594360" y="384048"/>
            <a:ext cx="7955279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Conclusion</a:t>
            </a:r>
            <a:endParaRPr lang="zh-CN" altLang="en-US" sz="30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6" name="矩形"/>
          <p:cNvSpPr>
            <a:spLocks/>
          </p:cNvSpPr>
          <p:nvPr/>
        </p:nvSpPr>
        <p:spPr>
          <a:xfrm rot="0">
            <a:off x="621791" y="1024127"/>
            <a:ext cx="7863840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Project outcomes</a:t>
            </a:r>
            <a:endParaRPr lang="zh-CN" altLang="en-US" sz="13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7" name="椭圆"/>
          <p:cNvSpPr>
            <a:spLocks/>
          </p:cNvSpPr>
          <p:nvPr/>
        </p:nvSpPr>
        <p:spPr>
          <a:xfrm rot="0">
            <a:off x="731520" y="1627631"/>
            <a:ext cx="100583" cy="100584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58" name="矩形"/>
          <p:cNvSpPr>
            <a:spLocks/>
          </p:cNvSpPr>
          <p:nvPr/>
        </p:nvSpPr>
        <p:spPr>
          <a:xfrm rot="0">
            <a:off x="987551" y="1508759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Demonstrates a complete ML workflow for labelled intrusion data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59" name="椭圆"/>
          <p:cNvSpPr>
            <a:spLocks/>
          </p:cNvSpPr>
          <p:nvPr/>
        </p:nvSpPr>
        <p:spPr>
          <a:xfrm rot="0">
            <a:off x="731520" y="2340863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60" name="矩形"/>
          <p:cNvSpPr>
            <a:spLocks/>
          </p:cNvSpPr>
          <p:nvPr/>
        </p:nvSpPr>
        <p:spPr>
          <a:xfrm rot="0">
            <a:off x="987551" y="2221991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Combines upload, cleaning, preprocessing, training and evaluation in one dashboard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61" name="椭圆"/>
          <p:cNvSpPr>
            <a:spLocks/>
          </p:cNvSpPr>
          <p:nvPr/>
        </p:nvSpPr>
        <p:spPr>
          <a:xfrm rot="0">
            <a:off x="731520" y="3054095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62" name="矩形"/>
          <p:cNvSpPr>
            <a:spLocks/>
          </p:cNvSpPr>
          <p:nvPr/>
        </p:nvSpPr>
        <p:spPr>
          <a:xfrm rot="0">
            <a:off x="987551" y="2935223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Provides clear visual feedback and reusable model/prediction exports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63" name="椭圆"/>
          <p:cNvSpPr>
            <a:spLocks/>
          </p:cNvSpPr>
          <p:nvPr/>
        </p:nvSpPr>
        <p:spPr>
          <a:xfrm rot="0">
            <a:off x="731520" y="3767328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64" name="矩形"/>
          <p:cNvSpPr>
            <a:spLocks/>
          </p:cNvSpPr>
          <p:nvPr/>
        </p:nvSpPr>
        <p:spPr>
          <a:xfrm rot="0">
            <a:off x="987551" y="3648456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Builds practical experience in Python, machine learning and dashboard development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65" name="椭圆"/>
          <p:cNvSpPr>
            <a:spLocks/>
          </p:cNvSpPr>
          <p:nvPr/>
        </p:nvSpPr>
        <p:spPr>
          <a:xfrm rot="0">
            <a:off x="731520" y="4480559"/>
            <a:ext cx="100583" cy="100583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66" name="矩形"/>
          <p:cNvSpPr>
            <a:spLocks/>
          </p:cNvSpPr>
          <p:nvPr/>
        </p:nvSpPr>
        <p:spPr>
          <a:xfrm rot="0">
            <a:off x="987551" y="4361688"/>
            <a:ext cx="7406639" cy="7132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Offers a foundation for a more advanced cloud-security solution</a:t>
            </a:r>
            <a:endParaRPr lang="zh-CN" altLang="en-US" sz="17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98163"/>
      </p:ext>
    </p:extLst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9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矩形"/>
          <p:cNvSpPr>
            <a:spLocks/>
          </p:cNvSpPr>
          <p:nvPr/>
        </p:nvSpPr>
        <p:spPr>
          <a:xfrm rot="0">
            <a:off x="8732520" y="0"/>
            <a:ext cx="3456431" cy="6858000"/>
          </a:xfrm>
          <a:prstGeom prst="rect"/>
          <a:solidFill>
            <a:srgbClr val="0F214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68" name="矩形"/>
          <p:cNvSpPr>
            <a:spLocks/>
          </p:cNvSpPr>
          <p:nvPr/>
        </p:nvSpPr>
        <p:spPr>
          <a:xfrm rot="0">
            <a:off x="0" y="0"/>
            <a:ext cx="91440" cy="6858000"/>
          </a:xfrm>
          <a:prstGeom prst="rect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69" name="矩形"/>
          <p:cNvSpPr>
            <a:spLocks/>
          </p:cNvSpPr>
          <p:nvPr/>
        </p:nvSpPr>
        <p:spPr>
          <a:xfrm rot="0">
            <a:off x="9281160" y="731520"/>
            <a:ext cx="21945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0" name="矩形"/>
          <p:cNvSpPr>
            <a:spLocks/>
          </p:cNvSpPr>
          <p:nvPr/>
        </p:nvSpPr>
        <p:spPr>
          <a:xfrm rot="0">
            <a:off x="9646920" y="1417320"/>
            <a:ext cx="173736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1" name="矩形"/>
          <p:cNvSpPr>
            <a:spLocks/>
          </p:cNvSpPr>
          <p:nvPr/>
        </p:nvSpPr>
        <p:spPr>
          <a:xfrm rot="0">
            <a:off x="9281160" y="2103120"/>
            <a:ext cx="2286000" cy="22860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2" name="矩形"/>
          <p:cNvSpPr>
            <a:spLocks/>
          </p:cNvSpPr>
          <p:nvPr/>
        </p:nvSpPr>
        <p:spPr>
          <a:xfrm rot="0">
            <a:off x="9738360" y="27889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3" name="矩形"/>
          <p:cNvSpPr>
            <a:spLocks/>
          </p:cNvSpPr>
          <p:nvPr/>
        </p:nvSpPr>
        <p:spPr>
          <a:xfrm rot="0">
            <a:off x="9235440" y="3474720"/>
            <a:ext cx="2285999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4" name="矩形"/>
          <p:cNvSpPr>
            <a:spLocks/>
          </p:cNvSpPr>
          <p:nvPr/>
        </p:nvSpPr>
        <p:spPr>
          <a:xfrm rot="0">
            <a:off x="9646920" y="4160520"/>
            <a:ext cx="17373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5" name="矩形"/>
          <p:cNvSpPr>
            <a:spLocks/>
          </p:cNvSpPr>
          <p:nvPr/>
        </p:nvSpPr>
        <p:spPr>
          <a:xfrm rot="0">
            <a:off x="9281160" y="4846320"/>
            <a:ext cx="219456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6" name="矩形"/>
          <p:cNvSpPr>
            <a:spLocks/>
          </p:cNvSpPr>
          <p:nvPr/>
        </p:nvSpPr>
        <p:spPr>
          <a:xfrm rot="0">
            <a:off x="9738360" y="5532120"/>
            <a:ext cx="1645920" cy="22859"/>
          </a:xfrm>
          <a:prstGeom prst="rect"/>
          <a:solidFill>
            <a:srgbClr val="00AAA0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7" name="椭圆"/>
          <p:cNvSpPr>
            <a:spLocks/>
          </p:cNvSpPr>
          <p:nvPr/>
        </p:nvSpPr>
        <p:spPr>
          <a:xfrm rot="0">
            <a:off x="9144000" y="9144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8" name="椭圆"/>
          <p:cNvSpPr>
            <a:spLocks/>
          </p:cNvSpPr>
          <p:nvPr/>
        </p:nvSpPr>
        <p:spPr>
          <a:xfrm rot="0">
            <a:off x="11292840" y="16002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79" name="椭圆"/>
          <p:cNvSpPr>
            <a:spLocks/>
          </p:cNvSpPr>
          <p:nvPr/>
        </p:nvSpPr>
        <p:spPr>
          <a:xfrm rot="0">
            <a:off x="9326880" y="22860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80" name="椭圆"/>
          <p:cNvSpPr>
            <a:spLocks/>
          </p:cNvSpPr>
          <p:nvPr/>
        </p:nvSpPr>
        <p:spPr>
          <a:xfrm rot="0">
            <a:off x="11430001" y="2971799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81" name="椭圆"/>
          <p:cNvSpPr>
            <a:spLocks/>
          </p:cNvSpPr>
          <p:nvPr/>
        </p:nvSpPr>
        <p:spPr>
          <a:xfrm rot="0">
            <a:off x="9144000" y="3657600"/>
            <a:ext cx="109728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82" name="椭圆"/>
          <p:cNvSpPr>
            <a:spLocks/>
          </p:cNvSpPr>
          <p:nvPr/>
        </p:nvSpPr>
        <p:spPr>
          <a:xfrm rot="0">
            <a:off x="11155680" y="4343400"/>
            <a:ext cx="109727" cy="109727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83" name="椭圆"/>
          <p:cNvSpPr>
            <a:spLocks/>
          </p:cNvSpPr>
          <p:nvPr/>
        </p:nvSpPr>
        <p:spPr>
          <a:xfrm rot="0">
            <a:off x="9281160" y="5029200"/>
            <a:ext cx="109728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84" name="椭圆"/>
          <p:cNvSpPr>
            <a:spLocks/>
          </p:cNvSpPr>
          <p:nvPr/>
        </p:nvSpPr>
        <p:spPr>
          <a:xfrm rot="0">
            <a:off x="11338560" y="5715000"/>
            <a:ext cx="109727" cy="109728"/>
          </a:xfrm>
          <a:prstGeom prst="ellipse"/>
          <a:solidFill>
            <a:srgbClr val="00D2DC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85" name="矩形"/>
          <p:cNvSpPr>
            <a:spLocks/>
          </p:cNvSpPr>
          <p:nvPr/>
        </p:nvSpPr>
        <p:spPr>
          <a:xfrm rot="0">
            <a:off x="502919" y="6473951"/>
            <a:ext cx="7772400" cy="2011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CLOUD INTRUSION DETECTION SYSTEM  •  INTERNSHIP PRESENTATION</a:t>
            </a:r>
            <a:endParaRPr lang="zh-CN" altLang="en-US" sz="8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86" name="矩形"/>
          <p:cNvSpPr>
            <a:spLocks/>
          </p:cNvSpPr>
          <p:nvPr/>
        </p:nvSpPr>
        <p:spPr>
          <a:xfrm rot="0">
            <a:off x="11475720" y="6419087"/>
            <a:ext cx="36576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00D2D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18</a:t>
            </a:r>
            <a:endParaRPr lang="zh-CN" altLang="en-US" sz="900" b="0" i="0" u="none" strike="noStrike" kern="1200" cap="none" spc="0" baseline="0">
              <a:solidFill>
                <a:srgbClr val="00D2D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87" name="矩形"/>
          <p:cNvSpPr>
            <a:spLocks/>
          </p:cNvSpPr>
          <p:nvPr/>
        </p:nvSpPr>
        <p:spPr>
          <a:xfrm rot="0">
            <a:off x="822960" y="1554480"/>
            <a:ext cx="713232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3400" b="0" i="0" u="none" strike="noStrike" kern="1200" cap="none" spc="0" baseline="0">
                <a:solidFill>
                  <a:srgbClr val="00D2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THANK YOU</a:t>
            </a:r>
            <a:endParaRPr lang="zh-CN" altLang="en-US" sz="3400" b="0" i="0" u="none" strike="noStrike" kern="1200" cap="none" spc="0" baseline="0">
              <a:solidFill>
                <a:srgbClr val="00D2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88" name="矩形"/>
          <p:cNvSpPr>
            <a:spLocks/>
          </p:cNvSpPr>
          <p:nvPr/>
        </p:nvSpPr>
        <p:spPr>
          <a:xfrm rot="0">
            <a:off x="868680" y="2514600"/>
            <a:ext cx="6857999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5F8F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Questions &amp; Discussion</a:t>
            </a:r>
            <a:endParaRPr lang="zh-CN" altLang="en-US" sz="2000" b="0" i="0" u="none" strike="noStrike" kern="1200" cap="none" spc="0" baseline="0">
              <a:solidFill>
                <a:srgbClr val="F5F8F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89" name="矩形"/>
          <p:cNvSpPr>
            <a:spLocks/>
          </p:cNvSpPr>
          <p:nvPr/>
        </p:nvSpPr>
        <p:spPr>
          <a:xfrm rot="0">
            <a:off x="868680" y="3657600"/>
            <a:ext cx="6857999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18288" tIns="18288" rIns="36576" bIns="18288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ROJITH R A</a:t>
            </a:r>
            <a:endParaRPr lang="en-US" altLang="zh-CN" sz="15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Department of Information Technology</a:t>
            </a:r>
            <a:endParaRPr lang="en-US" altLang="zh-CN" sz="15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AFBED2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Anna University, Tiruchirappalli</a:t>
            </a:r>
            <a:endParaRPr lang="zh-CN" altLang="en-US" sz="1500" b="0" i="0" u="none" strike="noStrike" kern="1200" cap="none" spc="0" baseline="0">
              <a:solidFill>
                <a:srgbClr val="AFBED2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78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2026-10-23T02:50:34Z</dcterms:modified>
</cp:coreProperties>
</file>